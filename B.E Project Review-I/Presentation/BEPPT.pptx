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335" r:id="rId4"/>
    <p:sldId id="303" r:id="rId5"/>
    <p:sldId id="277" r:id="rId6"/>
    <p:sldId id="337" r:id="rId7"/>
    <p:sldId id="307" r:id="rId8"/>
    <p:sldId id="340" r:id="rId9"/>
    <p:sldId id="338" r:id="rId10"/>
    <p:sldId id="312" r:id="rId11"/>
    <p:sldId id="339" r:id="rId12"/>
    <p:sldId id="336" r:id="rId13"/>
    <p:sldId id="333" r:id="rId14"/>
    <p:sldId id="299" r:id="rId15"/>
    <p:sldId id="341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>
      <p:cViewPr varScale="1">
        <p:scale>
          <a:sx n="84" d="100"/>
          <a:sy n="84" d="100"/>
        </p:scale>
        <p:origin x="64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AFE79E-F341-4A65-9156-82B7AE24FE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C429EF3-5F08-415E-A200-5C3152A6B7BE}">
      <dgm:prSet/>
      <dgm:spPr/>
      <dgm:t>
        <a:bodyPr/>
        <a:lstStyle/>
        <a:p>
          <a:r>
            <a:rPr lang="en-US" b="1" i="0" baseline="0"/>
            <a:t>Hardware:</a:t>
          </a:r>
          <a:endParaRPr lang="en-IN"/>
        </a:p>
      </dgm:t>
    </dgm:pt>
    <dgm:pt modelId="{21958880-7126-4B67-A54E-1ECDAA949400}" type="parTrans" cxnId="{8CC312A6-B0FB-4D43-8648-1FDAEC3DC4C7}">
      <dgm:prSet/>
      <dgm:spPr/>
      <dgm:t>
        <a:bodyPr/>
        <a:lstStyle/>
        <a:p>
          <a:endParaRPr lang="en-IN"/>
        </a:p>
      </dgm:t>
    </dgm:pt>
    <dgm:pt modelId="{7B224349-0961-4495-94CC-947729DDE2B7}" type="sibTrans" cxnId="{8CC312A6-B0FB-4D43-8648-1FDAEC3DC4C7}">
      <dgm:prSet/>
      <dgm:spPr/>
      <dgm:t>
        <a:bodyPr/>
        <a:lstStyle/>
        <a:p>
          <a:endParaRPr lang="en-IN"/>
        </a:p>
      </dgm:t>
    </dgm:pt>
    <dgm:pt modelId="{14574E97-A569-4C21-A9B8-4846D5101F22}">
      <dgm:prSet/>
      <dgm:spPr/>
      <dgm:t>
        <a:bodyPr/>
        <a:lstStyle/>
        <a:p>
          <a:r>
            <a:rPr lang="en-US"/>
            <a:t>20+ </a:t>
          </a:r>
          <a:r>
            <a:rPr lang="en-US" b="0" i="0" baseline="0"/>
            <a:t>core CPU</a:t>
          </a:r>
          <a:endParaRPr lang="en-IN"/>
        </a:p>
      </dgm:t>
    </dgm:pt>
    <dgm:pt modelId="{AFA7144A-AB0F-41E9-8F8B-A448E2507362}" type="parTrans" cxnId="{960ABBE0-08FA-4824-BDF4-00AAEC530183}">
      <dgm:prSet/>
      <dgm:spPr/>
      <dgm:t>
        <a:bodyPr/>
        <a:lstStyle/>
        <a:p>
          <a:endParaRPr lang="en-IN"/>
        </a:p>
      </dgm:t>
    </dgm:pt>
    <dgm:pt modelId="{AFC6740D-E8E5-430E-BE1B-A092900B4AF8}" type="sibTrans" cxnId="{960ABBE0-08FA-4824-BDF4-00AAEC530183}">
      <dgm:prSet/>
      <dgm:spPr/>
      <dgm:t>
        <a:bodyPr/>
        <a:lstStyle/>
        <a:p>
          <a:endParaRPr lang="en-IN"/>
        </a:p>
      </dgm:t>
    </dgm:pt>
    <dgm:pt modelId="{BB7EC4B7-70A3-4CF0-A65C-A7FBEFA63E87}">
      <dgm:prSet/>
      <dgm:spPr/>
      <dgm:t>
        <a:bodyPr/>
        <a:lstStyle/>
        <a:p>
          <a:r>
            <a:rPr lang="en-US" b="0" i="0" baseline="0"/>
            <a:t>64GB RAM</a:t>
          </a:r>
          <a:endParaRPr lang="en-IN"/>
        </a:p>
      </dgm:t>
    </dgm:pt>
    <dgm:pt modelId="{E7EEE8E5-19EE-45E5-94FC-FB0BAE5B6286}" type="parTrans" cxnId="{C455AA92-D864-4068-9429-E6EEC1E5A364}">
      <dgm:prSet/>
      <dgm:spPr/>
      <dgm:t>
        <a:bodyPr/>
        <a:lstStyle/>
        <a:p>
          <a:endParaRPr lang="en-IN"/>
        </a:p>
      </dgm:t>
    </dgm:pt>
    <dgm:pt modelId="{41740F9A-C5C2-4AE6-B282-C66F1E46AF77}" type="sibTrans" cxnId="{C455AA92-D864-4068-9429-E6EEC1E5A364}">
      <dgm:prSet/>
      <dgm:spPr/>
      <dgm:t>
        <a:bodyPr/>
        <a:lstStyle/>
        <a:p>
          <a:endParaRPr lang="en-IN"/>
        </a:p>
      </dgm:t>
    </dgm:pt>
    <dgm:pt modelId="{5BF0D4F4-AC6B-487C-8A42-2A7E25923828}">
      <dgm:prSet/>
      <dgm:spPr/>
      <dgm:t>
        <a:bodyPr/>
        <a:lstStyle/>
        <a:p>
          <a:r>
            <a:rPr lang="en-US" b="0" i="0" baseline="0"/>
            <a:t>1 to 2 </a:t>
          </a:r>
          <a:r>
            <a:rPr lang="en-US"/>
            <a:t>TB </a:t>
          </a:r>
          <a:r>
            <a:rPr lang="en-US" b="0" i="0" baseline="0"/>
            <a:t>SSD storage</a:t>
          </a:r>
          <a:endParaRPr lang="en-IN"/>
        </a:p>
      </dgm:t>
    </dgm:pt>
    <dgm:pt modelId="{3AA8783F-D7F3-455B-94C0-BB9D72C8B2C3}" type="parTrans" cxnId="{FC429D5A-3EA9-4F41-8177-0352AFA8E955}">
      <dgm:prSet/>
      <dgm:spPr/>
      <dgm:t>
        <a:bodyPr/>
        <a:lstStyle/>
        <a:p>
          <a:endParaRPr lang="en-IN"/>
        </a:p>
      </dgm:t>
    </dgm:pt>
    <dgm:pt modelId="{578B63F2-9138-4E54-B525-94E03579E94A}" type="sibTrans" cxnId="{FC429D5A-3EA9-4F41-8177-0352AFA8E955}">
      <dgm:prSet/>
      <dgm:spPr/>
      <dgm:t>
        <a:bodyPr/>
        <a:lstStyle/>
        <a:p>
          <a:endParaRPr lang="en-IN"/>
        </a:p>
      </dgm:t>
    </dgm:pt>
    <dgm:pt modelId="{3BBB35D4-4E1A-478E-95F8-43C65D1323BE}">
      <dgm:prSet/>
      <dgm:spPr/>
      <dgm:t>
        <a:bodyPr/>
        <a:lstStyle/>
        <a:p>
          <a:r>
            <a:rPr lang="en-US" b="0" i="0" baseline="0"/>
            <a:t>Stable internet connection </a:t>
          </a:r>
          <a:endParaRPr lang="en-IN"/>
        </a:p>
      </dgm:t>
    </dgm:pt>
    <dgm:pt modelId="{4E8E40BC-BFF3-419E-925E-10AD36113D9D}" type="parTrans" cxnId="{13225874-5CC5-4986-BBA5-CE742A058BE4}">
      <dgm:prSet/>
      <dgm:spPr/>
      <dgm:t>
        <a:bodyPr/>
        <a:lstStyle/>
        <a:p>
          <a:endParaRPr lang="en-IN"/>
        </a:p>
      </dgm:t>
    </dgm:pt>
    <dgm:pt modelId="{A4CD0ABB-1454-4CA6-9D58-24A0608FCA16}" type="sibTrans" cxnId="{13225874-5CC5-4986-BBA5-CE742A058BE4}">
      <dgm:prSet/>
      <dgm:spPr/>
      <dgm:t>
        <a:bodyPr/>
        <a:lstStyle/>
        <a:p>
          <a:endParaRPr lang="en-IN"/>
        </a:p>
      </dgm:t>
    </dgm:pt>
    <dgm:pt modelId="{0703B5F5-DE77-4AEA-92AF-A76149AC7307}">
      <dgm:prSet/>
      <dgm:spPr/>
      <dgm:t>
        <a:bodyPr/>
        <a:lstStyle/>
        <a:p>
          <a:r>
            <a:rPr lang="en-US" b="1" i="0" baseline="0"/>
            <a:t>Software:</a:t>
          </a:r>
          <a:endParaRPr lang="en-IN"/>
        </a:p>
      </dgm:t>
    </dgm:pt>
    <dgm:pt modelId="{1CE7D4E1-D70E-45D5-BFFE-32328866A509}" type="parTrans" cxnId="{AE727542-81B1-47EF-9293-E0EDA084EBCA}">
      <dgm:prSet/>
      <dgm:spPr/>
      <dgm:t>
        <a:bodyPr/>
        <a:lstStyle/>
        <a:p>
          <a:endParaRPr lang="en-IN"/>
        </a:p>
      </dgm:t>
    </dgm:pt>
    <dgm:pt modelId="{8E2CAB4E-1D8E-4871-BB02-8A32A6C01403}" type="sibTrans" cxnId="{AE727542-81B1-47EF-9293-E0EDA084EBCA}">
      <dgm:prSet/>
      <dgm:spPr/>
      <dgm:t>
        <a:bodyPr/>
        <a:lstStyle/>
        <a:p>
          <a:endParaRPr lang="en-IN"/>
        </a:p>
      </dgm:t>
    </dgm:pt>
    <dgm:pt modelId="{1E453A8D-68C5-459B-A33A-2BC5519E6997}">
      <dgm:prSet/>
      <dgm:spPr/>
      <dgm:t>
        <a:bodyPr/>
        <a:lstStyle/>
        <a:p>
          <a:r>
            <a:rPr lang="en-US" b="1" i="0" baseline="0"/>
            <a:t>Operating System:</a:t>
          </a:r>
          <a:r>
            <a:rPr lang="en-US" b="0" i="0" baseline="0"/>
            <a:t> Kali Linux / Ubuntu / Windows</a:t>
          </a:r>
          <a:endParaRPr lang="en-IN"/>
        </a:p>
      </dgm:t>
    </dgm:pt>
    <dgm:pt modelId="{FA6DDC7F-DE7E-4DD0-9F35-0073E6D17C99}" type="parTrans" cxnId="{A53C0658-099A-4853-BCB6-89FDE4860664}">
      <dgm:prSet/>
      <dgm:spPr/>
      <dgm:t>
        <a:bodyPr/>
        <a:lstStyle/>
        <a:p>
          <a:endParaRPr lang="en-IN"/>
        </a:p>
      </dgm:t>
    </dgm:pt>
    <dgm:pt modelId="{6FD2299E-1E9A-4BC2-AD7C-2CDE9F457FD1}" type="sibTrans" cxnId="{A53C0658-099A-4853-BCB6-89FDE4860664}">
      <dgm:prSet/>
      <dgm:spPr/>
      <dgm:t>
        <a:bodyPr/>
        <a:lstStyle/>
        <a:p>
          <a:endParaRPr lang="en-IN"/>
        </a:p>
      </dgm:t>
    </dgm:pt>
    <dgm:pt modelId="{87B4B2AA-F05C-4625-8B17-279892D2D55D}">
      <dgm:prSet/>
      <dgm:spPr/>
      <dgm:t>
        <a:bodyPr/>
        <a:lstStyle/>
        <a:p>
          <a:r>
            <a:rPr lang="en-US" b="1" i="0" baseline="0"/>
            <a:t>Backend:</a:t>
          </a:r>
          <a:r>
            <a:rPr lang="en-US" b="0" i="0" baseline="0"/>
            <a:t> Python </a:t>
          </a:r>
          <a:endParaRPr lang="en-IN"/>
        </a:p>
      </dgm:t>
    </dgm:pt>
    <dgm:pt modelId="{21160DE8-06B7-4A6E-9E25-17C3A33D001E}" type="parTrans" cxnId="{46F5E2AD-B0EB-4A67-9B87-39A6B80F307F}">
      <dgm:prSet/>
      <dgm:spPr/>
      <dgm:t>
        <a:bodyPr/>
        <a:lstStyle/>
        <a:p>
          <a:endParaRPr lang="en-IN"/>
        </a:p>
      </dgm:t>
    </dgm:pt>
    <dgm:pt modelId="{B7EF50D3-448A-43A4-BD31-59DE4DE4D052}" type="sibTrans" cxnId="{46F5E2AD-B0EB-4A67-9B87-39A6B80F307F}">
      <dgm:prSet/>
      <dgm:spPr/>
      <dgm:t>
        <a:bodyPr/>
        <a:lstStyle/>
        <a:p>
          <a:endParaRPr lang="en-IN"/>
        </a:p>
      </dgm:t>
    </dgm:pt>
    <dgm:pt modelId="{A80A56DD-C2E7-4D9E-96ED-08B8CA1F7BBC}">
      <dgm:prSet/>
      <dgm:spPr/>
      <dgm:t>
        <a:bodyPr/>
        <a:lstStyle/>
        <a:p>
          <a:r>
            <a:rPr lang="en-US" b="1" i="0" baseline="0"/>
            <a:t>Frontend:</a:t>
          </a:r>
          <a:r>
            <a:rPr lang="en-US" b="0" i="0" baseline="0"/>
            <a:t> ReactJS, CSS , Tailwind</a:t>
          </a:r>
          <a:endParaRPr lang="en-IN"/>
        </a:p>
      </dgm:t>
    </dgm:pt>
    <dgm:pt modelId="{BE32B4BB-A201-4A03-BD1C-AFE8FE35BC61}" type="parTrans" cxnId="{1D757D4E-FA63-465D-8608-69610F2F8B07}">
      <dgm:prSet/>
      <dgm:spPr/>
      <dgm:t>
        <a:bodyPr/>
        <a:lstStyle/>
        <a:p>
          <a:endParaRPr lang="en-IN"/>
        </a:p>
      </dgm:t>
    </dgm:pt>
    <dgm:pt modelId="{98839BE7-1613-4314-A79A-97F8D1BC336B}" type="sibTrans" cxnId="{1D757D4E-FA63-465D-8608-69610F2F8B07}">
      <dgm:prSet/>
      <dgm:spPr/>
      <dgm:t>
        <a:bodyPr/>
        <a:lstStyle/>
        <a:p>
          <a:endParaRPr lang="en-IN"/>
        </a:p>
      </dgm:t>
    </dgm:pt>
    <dgm:pt modelId="{4B2BD7D0-8E9C-44EA-9893-16CD76498E99}">
      <dgm:prSet/>
      <dgm:spPr/>
      <dgm:t>
        <a:bodyPr/>
        <a:lstStyle/>
        <a:p>
          <a:r>
            <a:rPr lang="en-US" b="1" i="0" baseline="0"/>
            <a:t>Tools:</a:t>
          </a:r>
          <a:r>
            <a:rPr lang="en-US" b="0" i="0" baseline="0"/>
            <a:t> Nmap, Docker</a:t>
          </a:r>
          <a:endParaRPr lang="en-IN"/>
        </a:p>
      </dgm:t>
    </dgm:pt>
    <dgm:pt modelId="{B6371201-1EF3-482D-B6C5-5865B99C1896}" type="parTrans" cxnId="{5028FC6D-75DF-4742-9A2D-072CA5DF12EC}">
      <dgm:prSet/>
      <dgm:spPr/>
      <dgm:t>
        <a:bodyPr/>
        <a:lstStyle/>
        <a:p>
          <a:endParaRPr lang="en-IN"/>
        </a:p>
      </dgm:t>
    </dgm:pt>
    <dgm:pt modelId="{885BB6F1-9164-4F5C-BD28-03580027E368}" type="sibTrans" cxnId="{5028FC6D-75DF-4742-9A2D-072CA5DF12EC}">
      <dgm:prSet/>
      <dgm:spPr/>
      <dgm:t>
        <a:bodyPr/>
        <a:lstStyle/>
        <a:p>
          <a:endParaRPr lang="en-IN"/>
        </a:p>
      </dgm:t>
    </dgm:pt>
    <dgm:pt modelId="{F153CD60-52CC-4504-9744-58A7810C71E0}">
      <dgm:prSet/>
      <dgm:spPr/>
      <dgm:t>
        <a:bodyPr/>
        <a:lstStyle/>
        <a:p>
          <a:r>
            <a:rPr lang="en-US" b="1" i="0" baseline="0"/>
            <a:t>LLM APIs:</a:t>
          </a:r>
          <a:r>
            <a:rPr lang="en-US" b="0" i="0" baseline="0"/>
            <a:t> GPT-4o / Claude 3 for reasoning and </a:t>
          </a:r>
          <a:br>
            <a:rPr lang="en-US" b="0" i="0" baseline="0"/>
          </a:br>
          <a:r>
            <a:rPr lang="en-US" b="0" i="0" baseline="0"/>
            <a:t>                     reporting</a:t>
          </a:r>
          <a:endParaRPr lang="en-IN"/>
        </a:p>
      </dgm:t>
    </dgm:pt>
    <dgm:pt modelId="{B844829E-04B7-4934-BAAB-034B5AC0CB47}" type="parTrans" cxnId="{67C746C4-174E-447D-84F4-89BB432B383D}">
      <dgm:prSet/>
      <dgm:spPr/>
      <dgm:t>
        <a:bodyPr/>
        <a:lstStyle/>
        <a:p>
          <a:endParaRPr lang="en-IN"/>
        </a:p>
      </dgm:t>
    </dgm:pt>
    <dgm:pt modelId="{630BAA75-2AD0-41D3-9461-5699A3B03AE3}" type="sibTrans" cxnId="{67C746C4-174E-447D-84F4-89BB432B383D}">
      <dgm:prSet/>
      <dgm:spPr/>
      <dgm:t>
        <a:bodyPr/>
        <a:lstStyle/>
        <a:p>
          <a:endParaRPr lang="en-IN"/>
        </a:p>
      </dgm:t>
    </dgm:pt>
    <dgm:pt modelId="{C5B01D66-0919-4149-A646-F66F09EF2FBB}" type="pres">
      <dgm:prSet presAssocID="{C6AFE79E-F341-4A65-9156-82B7AE24FE5B}" presName="linear" presStyleCnt="0">
        <dgm:presLayoutVars>
          <dgm:animLvl val="lvl"/>
          <dgm:resizeHandles val="exact"/>
        </dgm:presLayoutVars>
      </dgm:prSet>
      <dgm:spPr/>
    </dgm:pt>
    <dgm:pt modelId="{8D3591B4-622E-47CC-90F8-504CACE7B996}" type="pres">
      <dgm:prSet presAssocID="{CC429EF3-5F08-415E-A200-5C3152A6B7B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23D6C19-BF7E-4C19-A47E-D3228175EC37}" type="pres">
      <dgm:prSet presAssocID="{CC429EF3-5F08-415E-A200-5C3152A6B7BE}" presName="childText" presStyleLbl="revTx" presStyleIdx="0" presStyleCnt="2">
        <dgm:presLayoutVars>
          <dgm:bulletEnabled val="1"/>
        </dgm:presLayoutVars>
      </dgm:prSet>
      <dgm:spPr/>
    </dgm:pt>
    <dgm:pt modelId="{44AC3BE5-010A-4241-AEB1-543BB2B5C150}" type="pres">
      <dgm:prSet presAssocID="{0703B5F5-DE77-4AEA-92AF-A76149AC730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4D148CD-C6E6-41E8-A9C0-3D19101D07AA}" type="pres">
      <dgm:prSet presAssocID="{0703B5F5-DE77-4AEA-92AF-A76149AC730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5205F1B-6379-463C-8B9F-B52ED4434AD5}" type="presOf" srcId="{87B4B2AA-F05C-4625-8B17-279892D2D55D}" destId="{04D148CD-C6E6-41E8-A9C0-3D19101D07AA}" srcOrd="0" destOrd="1" presId="urn:microsoft.com/office/officeart/2005/8/layout/vList2"/>
    <dgm:cxn modelId="{5E584728-4E9D-492C-A7D3-B872B57638EE}" type="presOf" srcId="{F153CD60-52CC-4504-9744-58A7810C71E0}" destId="{04D148CD-C6E6-41E8-A9C0-3D19101D07AA}" srcOrd="0" destOrd="4" presId="urn:microsoft.com/office/officeart/2005/8/layout/vList2"/>
    <dgm:cxn modelId="{12AC3D40-C027-45E6-B5B7-7B8FFFC672D7}" type="presOf" srcId="{1E453A8D-68C5-459B-A33A-2BC5519E6997}" destId="{04D148CD-C6E6-41E8-A9C0-3D19101D07AA}" srcOrd="0" destOrd="0" presId="urn:microsoft.com/office/officeart/2005/8/layout/vList2"/>
    <dgm:cxn modelId="{AE727542-81B1-47EF-9293-E0EDA084EBCA}" srcId="{C6AFE79E-F341-4A65-9156-82B7AE24FE5B}" destId="{0703B5F5-DE77-4AEA-92AF-A76149AC7307}" srcOrd="1" destOrd="0" parTransId="{1CE7D4E1-D70E-45D5-BFFE-32328866A509}" sibTransId="{8E2CAB4E-1D8E-4871-BB02-8A32A6C01403}"/>
    <dgm:cxn modelId="{5028FC6D-75DF-4742-9A2D-072CA5DF12EC}" srcId="{0703B5F5-DE77-4AEA-92AF-A76149AC7307}" destId="{4B2BD7D0-8E9C-44EA-9893-16CD76498E99}" srcOrd="3" destOrd="0" parTransId="{B6371201-1EF3-482D-B6C5-5865B99C1896}" sibTransId="{885BB6F1-9164-4F5C-BD28-03580027E368}"/>
    <dgm:cxn modelId="{1D757D4E-FA63-465D-8608-69610F2F8B07}" srcId="{0703B5F5-DE77-4AEA-92AF-A76149AC7307}" destId="{A80A56DD-C2E7-4D9E-96ED-08B8CA1F7BBC}" srcOrd="2" destOrd="0" parTransId="{BE32B4BB-A201-4A03-BD1C-AFE8FE35BC61}" sibTransId="{98839BE7-1613-4314-A79A-97F8D1BC336B}"/>
    <dgm:cxn modelId="{13225874-5CC5-4986-BBA5-CE742A058BE4}" srcId="{CC429EF3-5F08-415E-A200-5C3152A6B7BE}" destId="{3BBB35D4-4E1A-478E-95F8-43C65D1323BE}" srcOrd="3" destOrd="0" parTransId="{4E8E40BC-BFF3-419E-925E-10AD36113D9D}" sibTransId="{A4CD0ABB-1454-4CA6-9D58-24A0608FCA16}"/>
    <dgm:cxn modelId="{A53C0658-099A-4853-BCB6-89FDE4860664}" srcId="{0703B5F5-DE77-4AEA-92AF-A76149AC7307}" destId="{1E453A8D-68C5-459B-A33A-2BC5519E6997}" srcOrd="0" destOrd="0" parTransId="{FA6DDC7F-DE7E-4DD0-9F35-0073E6D17C99}" sibTransId="{6FD2299E-1E9A-4BC2-AD7C-2CDE9F457FD1}"/>
    <dgm:cxn modelId="{4FDD2F58-F0FA-4B58-A3D6-5AC3EDEDC124}" type="presOf" srcId="{C6AFE79E-F341-4A65-9156-82B7AE24FE5B}" destId="{C5B01D66-0919-4149-A646-F66F09EF2FBB}" srcOrd="0" destOrd="0" presId="urn:microsoft.com/office/officeart/2005/8/layout/vList2"/>
    <dgm:cxn modelId="{FC429D5A-3EA9-4F41-8177-0352AFA8E955}" srcId="{CC429EF3-5F08-415E-A200-5C3152A6B7BE}" destId="{5BF0D4F4-AC6B-487C-8A42-2A7E25923828}" srcOrd="2" destOrd="0" parTransId="{3AA8783F-D7F3-455B-94C0-BB9D72C8B2C3}" sibTransId="{578B63F2-9138-4E54-B525-94E03579E94A}"/>
    <dgm:cxn modelId="{C455AA92-D864-4068-9429-E6EEC1E5A364}" srcId="{CC429EF3-5F08-415E-A200-5C3152A6B7BE}" destId="{BB7EC4B7-70A3-4CF0-A65C-A7FBEFA63E87}" srcOrd="1" destOrd="0" parTransId="{E7EEE8E5-19EE-45E5-94FC-FB0BAE5B6286}" sibTransId="{41740F9A-C5C2-4AE6-B282-C66F1E46AF77}"/>
    <dgm:cxn modelId="{8CC312A6-B0FB-4D43-8648-1FDAEC3DC4C7}" srcId="{C6AFE79E-F341-4A65-9156-82B7AE24FE5B}" destId="{CC429EF3-5F08-415E-A200-5C3152A6B7BE}" srcOrd="0" destOrd="0" parTransId="{21958880-7126-4B67-A54E-1ECDAA949400}" sibTransId="{7B224349-0961-4495-94CC-947729DDE2B7}"/>
    <dgm:cxn modelId="{46F5E2AD-B0EB-4A67-9B87-39A6B80F307F}" srcId="{0703B5F5-DE77-4AEA-92AF-A76149AC7307}" destId="{87B4B2AA-F05C-4625-8B17-279892D2D55D}" srcOrd="1" destOrd="0" parTransId="{21160DE8-06B7-4A6E-9E25-17C3A33D001E}" sibTransId="{B7EF50D3-448A-43A4-BD31-59DE4DE4D052}"/>
    <dgm:cxn modelId="{ED9C36B7-F45D-4BAA-839A-496B759E9C42}" type="presOf" srcId="{BB7EC4B7-70A3-4CF0-A65C-A7FBEFA63E87}" destId="{F23D6C19-BF7E-4C19-A47E-D3228175EC37}" srcOrd="0" destOrd="1" presId="urn:microsoft.com/office/officeart/2005/8/layout/vList2"/>
    <dgm:cxn modelId="{76BD8CBA-D777-4529-8AA0-EBE768AB176B}" type="presOf" srcId="{5BF0D4F4-AC6B-487C-8A42-2A7E25923828}" destId="{F23D6C19-BF7E-4C19-A47E-D3228175EC37}" srcOrd="0" destOrd="2" presId="urn:microsoft.com/office/officeart/2005/8/layout/vList2"/>
    <dgm:cxn modelId="{67C746C4-174E-447D-84F4-89BB432B383D}" srcId="{0703B5F5-DE77-4AEA-92AF-A76149AC7307}" destId="{F153CD60-52CC-4504-9744-58A7810C71E0}" srcOrd="4" destOrd="0" parTransId="{B844829E-04B7-4934-BAAB-034B5AC0CB47}" sibTransId="{630BAA75-2AD0-41D3-9461-5699A3B03AE3}"/>
    <dgm:cxn modelId="{0B02B0DE-4183-4CA9-B520-2F9391BECC63}" type="presOf" srcId="{14574E97-A569-4C21-A9B8-4846D5101F22}" destId="{F23D6C19-BF7E-4C19-A47E-D3228175EC37}" srcOrd="0" destOrd="0" presId="urn:microsoft.com/office/officeart/2005/8/layout/vList2"/>
    <dgm:cxn modelId="{960ABBE0-08FA-4824-BDF4-00AAEC530183}" srcId="{CC429EF3-5F08-415E-A200-5C3152A6B7BE}" destId="{14574E97-A569-4C21-A9B8-4846D5101F22}" srcOrd="0" destOrd="0" parTransId="{AFA7144A-AB0F-41E9-8F8B-A448E2507362}" sibTransId="{AFC6740D-E8E5-430E-BE1B-A092900B4AF8}"/>
    <dgm:cxn modelId="{8DDB40E3-4C3E-4999-AC4B-47FB8D96A024}" type="presOf" srcId="{0703B5F5-DE77-4AEA-92AF-A76149AC7307}" destId="{44AC3BE5-010A-4241-AEB1-543BB2B5C150}" srcOrd="0" destOrd="0" presId="urn:microsoft.com/office/officeart/2005/8/layout/vList2"/>
    <dgm:cxn modelId="{57F788E4-FFD2-486B-9C4F-727ED7D665CA}" type="presOf" srcId="{4B2BD7D0-8E9C-44EA-9893-16CD76498E99}" destId="{04D148CD-C6E6-41E8-A9C0-3D19101D07AA}" srcOrd="0" destOrd="3" presId="urn:microsoft.com/office/officeart/2005/8/layout/vList2"/>
    <dgm:cxn modelId="{330768F2-35AB-41B1-8E44-4EF29AAD43CE}" type="presOf" srcId="{3BBB35D4-4E1A-478E-95F8-43C65D1323BE}" destId="{F23D6C19-BF7E-4C19-A47E-D3228175EC37}" srcOrd="0" destOrd="3" presId="urn:microsoft.com/office/officeart/2005/8/layout/vList2"/>
    <dgm:cxn modelId="{67DC6DFA-D3F2-45D3-9569-B4B05EA7C900}" type="presOf" srcId="{A80A56DD-C2E7-4D9E-96ED-08B8CA1F7BBC}" destId="{04D148CD-C6E6-41E8-A9C0-3D19101D07AA}" srcOrd="0" destOrd="2" presId="urn:microsoft.com/office/officeart/2005/8/layout/vList2"/>
    <dgm:cxn modelId="{A9B3EDFA-D61C-4F61-B830-463D20AAE91A}" type="presOf" srcId="{CC429EF3-5F08-415E-A200-5C3152A6B7BE}" destId="{8D3591B4-622E-47CC-90F8-504CACE7B996}" srcOrd="0" destOrd="0" presId="urn:microsoft.com/office/officeart/2005/8/layout/vList2"/>
    <dgm:cxn modelId="{497A75B9-1F71-4647-BDC5-740C4DD237CD}" type="presParOf" srcId="{C5B01D66-0919-4149-A646-F66F09EF2FBB}" destId="{8D3591B4-622E-47CC-90F8-504CACE7B996}" srcOrd="0" destOrd="0" presId="urn:microsoft.com/office/officeart/2005/8/layout/vList2"/>
    <dgm:cxn modelId="{EFCE424F-D0E1-4C90-9EA1-299DAE867A99}" type="presParOf" srcId="{C5B01D66-0919-4149-A646-F66F09EF2FBB}" destId="{F23D6C19-BF7E-4C19-A47E-D3228175EC37}" srcOrd="1" destOrd="0" presId="urn:microsoft.com/office/officeart/2005/8/layout/vList2"/>
    <dgm:cxn modelId="{0DED245A-D20C-432B-BC98-BDBF644ED251}" type="presParOf" srcId="{C5B01D66-0919-4149-A646-F66F09EF2FBB}" destId="{44AC3BE5-010A-4241-AEB1-543BB2B5C150}" srcOrd="2" destOrd="0" presId="urn:microsoft.com/office/officeart/2005/8/layout/vList2"/>
    <dgm:cxn modelId="{5FAB254E-5578-4884-A982-6731E1EA2EB3}" type="presParOf" srcId="{C5B01D66-0919-4149-A646-F66F09EF2FBB}" destId="{04D148CD-C6E6-41E8-A9C0-3D19101D07A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3591B4-622E-47CC-90F8-504CACE7B996}">
      <dsp:nvSpPr>
        <dsp:cNvPr id="0" name=""/>
        <dsp:cNvSpPr/>
      </dsp:nvSpPr>
      <dsp:spPr>
        <a:xfrm>
          <a:off x="0" y="48483"/>
          <a:ext cx="60198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Hardware:</a:t>
          </a:r>
          <a:endParaRPr lang="en-IN" sz="2300" kern="1200"/>
        </a:p>
      </dsp:txBody>
      <dsp:txXfrm>
        <a:off x="26930" y="75413"/>
        <a:ext cx="5965940" cy="497795"/>
      </dsp:txXfrm>
    </dsp:sp>
    <dsp:sp modelId="{F23D6C19-BF7E-4C19-A47E-D3228175EC37}">
      <dsp:nvSpPr>
        <dsp:cNvPr id="0" name=""/>
        <dsp:cNvSpPr/>
      </dsp:nvSpPr>
      <dsp:spPr>
        <a:xfrm>
          <a:off x="0" y="600138"/>
          <a:ext cx="6019800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12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20+ </a:t>
          </a:r>
          <a:r>
            <a:rPr lang="en-US" sz="1800" b="0" i="0" kern="1200" baseline="0"/>
            <a:t>core CPU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baseline="0"/>
            <a:t>64GB RAM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baseline="0"/>
            <a:t>1 to 2 </a:t>
          </a:r>
          <a:r>
            <a:rPr lang="en-US" sz="1800" kern="1200"/>
            <a:t>TB </a:t>
          </a:r>
          <a:r>
            <a:rPr lang="en-US" sz="1800" b="0" i="0" kern="1200" baseline="0"/>
            <a:t>SSD storage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0" i="0" kern="1200" baseline="0"/>
            <a:t>Stable internet connection </a:t>
          </a:r>
          <a:endParaRPr lang="en-IN" sz="1800" kern="1200"/>
        </a:p>
      </dsp:txBody>
      <dsp:txXfrm>
        <a:off x="0" y="600138"/>
        <a:ext cx="6019800" cy="1237860"/>
      </dsp:txXfrm>
    </dsp:sp>
    <dsp:sp modelId="{44AC3BE5-010A-4241-AEB1-543BB2B5C150}">
      <dsp:nvSpPr>
        <dsp:cNvPr id="0" name=""/>
        <dsp:cNvSpPr/>
      </dsp:nvSpPr>
      <dsp:spPr>
        <a:xfrm>
          <a:off x="0" y="1837998"/>
          <a:ext cx="60198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Software:</a:t>
          </a:r>
          <a:endParaRPr lang="en-IN" sz="2300" kern="1200"/>
        </a:p>
      </dsp:txBody>
      <dsp:txXfrm>
        <a:off x="26930" y="1864928"/>
        <a:ext cx="5965940" cy="497795"/>
      </dsp:txXfrm>
    </dsp:sp>
    <dsp:sp modelId="{04D148CD-C6E6-41E8-A9C0-3D19101D07AA}">
      <dsp:nvSpPr>
        <dsp:cNvPr id="0" name=""/>
        <dsp:cNvSpPr/>
      </dsp:nvSpPr>
      <dsp:spPr>
        <a:xfrm>
          <a:off x="0" y="2389653"/>
          <a:ext cx="6019800" cy="1809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129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0" kern="1200" baseline="0"/>
            <a:t>Operating System:</a:t>
          </a:r>
          <a:r>
            <a:rPr lang="en-US" sz="1800" b="0" i="0" kern="1200" baseline="0"/>
            <a:t> Kali Linux / Ubuntu / Windows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0" kern="1200" baseline="0"/>
            <a:t>Backend:</a:t>
          </a:r>
          <a:r>
            <a:rPr lang="en-US" sz="1800" b="0" i="0" kern="1200" baseline="0"/>
            <a:t> Python 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0" kern="1200" baseline="0"/>
            <a:t>Frontend:</a:t>
          </a:r>
          <a:r>
            <a:rPr lang="en-US" sz="1800" b="0" i="0" kern="1200" baseline="0"/>
            <a:t> ReactJS, CSS , Tailwind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0" kern="1200" baseline="0"/>
            <a:t>Tools:</a:t>
          </a:r>
          <a:r>
            <a:rPr lang="en-US" sz="1800" b="0" i="0" kern="1200" baseline="0"/>
            <a:t> Nmap, Docker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b="1" i="0" kern="1200" baseline="0"/>
            <a:t>LLM APIs:</a:t>
          </a:r>
          <a:r>
            <a:rPr lang="en-US" sz="1800" b="0" i="0" kern="1200" baseline="0"/>
            <a:t> GPT-4o / Claude 3 for reasoning and </a:t>
          </a:r>
          <a:br>
            <a:rPr lang="en-US" sz="1800" b="0" i="0" kern="1200" baseline="0"/>
          </a:br>
          <a:r>
            <a:rPr lang="en-US" sz="1800" b="0" i="0" kern="1200" baseline="0"/>
            <a:t>                     reporting</a:t>
          </a:r>
          <a:endParaRPr lang="en-IN" sz="1800" kern="1200"/>
        </a:p>
      </dsp:txBody>
      <dsp:txXfrm>
        <a:off x="0" y="2389653"/>
        <a:ext cx="6019800" cy="1809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4D8BF-BAB4-49C3-B335-F84D31C702CD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976ED-0C49-4D96-A16E-283732D8D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3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D4CBE5-3E90-43AD-84D0-F2A6A5F59C7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976ED-0C49-4D96-A16E-283732D8D7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92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976ED-0C49-4D96-A16E-283732D8D7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1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976ED-0C49-4D96-A16E-283732D8D7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92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976ED-0C49-4D96-A16E-283732D8D7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92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976ED-0C49-4D96-A16E-283732D8D70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92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976ED-0C49-4D96-A16E-283732D8D70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92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847FD-81F6-013D-3668-BAF0C47B7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068FF-BFFF-9B07-CE7C-6C38EE5FB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2C10A-558D-845A-8EC3-46C855D56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49E03-3F04-BE9B-A437-8677040D3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976ED-0C49-4D96-A16E-283732D8D70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55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F14F-9B3A-4928-803D-50374A48733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39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9EA0C-6BD3-4374-B470-B633DEC90859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13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7AAE-A571-498F-97DF-1CBFAFFA8CF7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88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63124-67EC-435F-AE52-FF24B1195C6B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810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99F4-7C96-43A1-BB07-4E4AACB388BE}" type="datetime1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8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2E5E8-3DD5-4CF5-BA03-735CB656ADDA}" type="datetime1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149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6ECD1-788C-4B84-A38A-CBCC04A07CC4}" type="datetime1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1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AE7F-0355-46D3-856E-98D46A184F57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60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BA6E-0A99-4142-82FB-1A5E2F24DD3F}" type="datetime1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7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1680B-C1DC-4B3C-A017-509C6FBEE50F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94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0B55B-CF1D-4650-9CD4-1E7BA535DAB1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6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F5738-A472-4F09-9C3C-8C30BECD4AE5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1EB0C-CB60-4CBC-BB14-048A65726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87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AutoShape 2"/>
          <p:cNvSpPr>
            <a:spLocks noGrp="1" noChangeArrowheads="1"/>
          </p:cNvSpPr>
          <p:nvPr>
            <p:ph type="ctrTitle"/>
          </p:nvPr>
        </p:nvSpPr>
        <p:spPr>
          <a:xfrm>
            <a:off x="457200" y="304800"/>
            <a:ext cx="11430000" cy="3429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KJ’S EDUCATIONAL INSTITUTES</a:t>
            </a:r>
            <a:b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TRINITY COLLEGE OF ENGINEERING AND RESEARCH PUNE</a:t>
            </a:r>
            <a:b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Information Technology</a:t>
            </a:r>
            <a:b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 2025-26 SEM-I</a:t>
            </a:r>
            <a:b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Project Stage –I 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Presentation 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Penetration Testing For Websites using LLM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>
            <a:spLocks noChangeArrowheads="1" noChangeShapeType="1" noTextEdit="1"/>
          </p:cNvSpPr>
          <p:nvPr/>
        </p:nvSpPr>
        <p:spPr bwMode="auto">
          <a:xfrm>
            <a:off x="2133600" y="2209800"/>
            <a:ext cx="8077200" cy="1524000"/>
          </a:xfrm>
          <a:prstGeom prst="rect">
            <a:avLst/>
          </a:prstGeom>
        </p:spPr>
        <p:txBody>
          <a:bodyPr wrap="none" fromWordArt="1">
            <a:prstTxWarp prst="textTriangle">
              <a:avLst>
                <a:gd name="adj" fmla="val 50000"/>
              </a:avLst>
            </a:prstTxWarp>
          </a:bodyPr>
          <a:lstStyle/>
          <a:p>
            <a:pPr algn="ctr"/>
            <a:endParaRPr lang="en-US" sz="3600" kern="10">
              <a:ln w="9525" algn="ctr">
                <a:solidFill>
                  <a:srgbClr val="000000"/>
                </a:solidFill>
                <a:round/>
                <a:headEnd/>
                <a:tailEnd/>
              </a:ln>
              <a:latin typeface="Arial Black"/>
            </a:endParaRPr>
          </a:p>
        </p:txBody>
      </p:sp>
      <p:sp>
        <p:nvSpPr>
          <p:cNvPr id="2052" name="TextBox 12"/>
          <p:cNvSpPr txBox="1">
            <a:spLocks noChangeArrowheads="1"/>
          </p:cNvSpPr>
          <p:nvPr/>
        </p:nvSpPr>
        <p:spPr bwMode="auto">
          <a:xfrm>
            <a:off x="7620000" y="5334000"/>
            <a:ext cx="3124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 the  Guidance  of </a:t>
            </a:r>
          </a:p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Vilas Gaikwad</a:t>
            </a:r>
          </a:p>
          <a:p>
            <a:pPr eaLnBrk="1" hangingPunct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5" name="Rectangle 10"/>
          <p:cNvSpPr>
            <a:spLocks noChangeArrowheads="1"/>
          </p:cNvSpPr>
          <p:nvPr/>
        </p:nvSpPr>
        <p:spPr bwMode="auto">
          <a:xfrm>
            <a:off x="685800" y="4343400"/>
            <a:ext cx="45720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 2025-26-01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Soham Deshmukh (IT-4012)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Mohanish Kulkarni (IT-4032)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Jayam Mehta  (IT-4037) </a:t>
            </a: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Pallavi Akolkar (IT-4002)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0"/>
            <a:ext cx="1143001" cy="148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9091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1295400"/>
            <a:ext cx="10744200" cy="528796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of Implementation (Software / Hardware Requirements)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Proposed Work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Schedule of Project Stage-I Work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57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114800" y="2478189"/>
            <a:ext cx="10287000" cy="40386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3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479E58EA-2F0A-247F-1E17-49BABB513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600200"/>
            <a:ext cx="99822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penetration testing is manual, time-consuming, and inconsistent.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AI systems can enhance vulnerability detection.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ethical hacking tools improves testing accuracy and consistency.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scanners analyze code, endpoints, and configurations for potential exploits.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automation helps detect logic flaws and hidden security weaknesses.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vulnerability mapping ensures better coverage and faster remediation.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testing can adapt dynamically to different application architectures.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49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2331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4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38200" y="1828799"/>
            <a:ext cx="10515600" cy="4382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619212-0442-4401-41D4-12F25D976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28799"/>
            <a:ext cx="1210208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penetration testing tools require significant manual effort and lack intelligent reasoning.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scanners often produce high false positives and miss business-logic vulnerabilities.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is a need for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context-aware, intelligent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integrates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reasoning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security testing.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059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683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Objectives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5</a:t>
            </a:fld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C99B3DA0-8668-A450-49B4-3E9A94610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61702"/>
            <a:ext cx="115824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Motivation:</a:t>
            </a:r>
            <a:r>
              <a:rPr lang="en-US" altLang="en-US" dirty="0">
                <a:latin typeface="Arial" panose="020B0604020202020204" pitchFamily="34" charset="0"/>
              </a:rPr>
              <a:t> Current tools cannot keep up with the scale and complexity of modern web applications.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Objectives: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 reconnaissance and information gathering using intelligent crawlers and LLM-based analysis for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subdomains, endpoints, and tech-stack discovery.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Combine LLMs with conventional scanners to detect vulnerabilities and reduce false positives.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 dynamic attack simulation using adaptive, AI-driven testing to generate custom payloads for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authorized  validation.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real-time, human-readable reports that explain vulnerabilities, impacts, and step-by-step remediation.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ethical, secure framework controls with strict authorization, access control, and comprehensive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logging   for auditable testing.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858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D66A-7A55-52DE-14BE-AD72903B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FE489-5E64-C34D-CFB4-E4D5F7796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6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A7F3A149-75CF-F645-B226-405CFEDF0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482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DB35F01-96E7-0DF2-B4C7-CBC03C0CB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55" y="1417638"/>
            <a:ext cx="1010084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Incorporation of contextual threat modeling to simulate real-world attack strategies.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AI-driven adaptive learning to stay updated with emerging exploits and attack vectors.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of a centralized dashboard for real-time monitoring and analytics.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for multilingual web applications and international security compliance standards.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explainability and visualization of attack paths for better understanding by developers.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LLM to enhance contextual understanding and automate vulnerability explanation.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prioritization of vulnerabilities based on business impact and exploit likelihood.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31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101025"/>
            <a:ext cx="9296400" cy="104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>
              <a:spcBef>
                <a:spcPct val="0"/>
              </a:spcBef>
              <a:buNone/>
              <a:defRPr sz="440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  Literature Survey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7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38200" y="1600201"/>
            <a:ext cx="10591800" cy="3921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B5D8D87-4FB1-3014-1A44-C49D57131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741680"/>
              </p:ext>
            </p:extLst>
          </p:nvPr>
        </p:nvGraphicFramePr>
        <p:xfrm>
          <a:off x="533400" y="1270580"/>
          <a:ext cx="11049000" cy="5505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1141787502"/>
                    </a:ext>
                  </a:extLst>
                </a:gridCol>
                <a:gridCol w="2437278">
                  <a:extLst>
                    <a:ext uri="{9D8B030D-6E8A-4147-A177-3AD203B41FA5}">
                      <a16:colId xmlns:a16="http://schemas.microsoft.com/office/drawing/2014/main" val="160733514"/>
                    </a:ext>
                  </a:extLst>
                </a:gridCol>
                <a:gridCol w="3087222">
                  <a:extLst>
                    <a:ext uri="{9D8B030D-6E8A-4147-A177-3AD203B41FA5}">
                      <a16:colId xmlns:a16="http://schemas.microsoft.com/office/drawing/2014/main" val="1316751349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580178793"/>
                    </a:ext>
                  </a:extLst>
                </a:gridCol>
              </a:tblGrid>
              <a:tr h="361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Paper / Tool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Approach / Technique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Strengths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440536"/>
                  </a:ext>
                </a:extLst>
              </a:tr>
              <a:tr h="117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AI-Assisted Penetration Testing Using LLMs (Mehta et al.,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Integrating LLMs with traditional scanners for contextual vulnerability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Improves detection of logical and context-based flaws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Requires powerful compute resources; risk of AI hallucination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013148"/>
                  </a:ext>
                </a:extLst>
              </a:tr>
              <a:tr h="117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Automated Vulnerability Assessment using NLP &amp; DL (Verma &amp; Srivastava,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NLP models for vulnerability classification and mapping to 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Reduces manual effort; faster vulnerability categorization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Limited reasoning; not adaptive for new exploit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219273"/>
                  </a:ext>
                </a:extLst>
              </a:tr>
              <a:tr h="90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LLM-Driven Web Security Framework (Iqbal et al.,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GPT-based reasoning for fuzzing and exploit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Increases coverage for OWASP Top 10 vulnerabilities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 API dependency; limited scalability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878724"/>
                  </a:ext>
                </a:extLst>
              </a:tr>
              <a:tr h="903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Intelligent Automation in Ethical Hacking (Banerjee &amp; Thomas, 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Generative AI for reconnaissance and payload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Automates repetitive tasks; maintains ethical 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Needs expert supervision for accurate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360135"/>
                  </a:ext>
                </a:extLst>
              </a:tr>
              <a:tr h="93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AI-Powered Security Testing &amp; Remediation (Rao et al.,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 model for prioritizing and remediating vulnerabilities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Generates actionable remediation steps automatically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Focused mainly on risk ranking, not exploit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0163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976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6925F-462D-8CE5-D443-A9525F89C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2743C7-DE68-6BCD-CCD9-AAE061ACF237}"/>
              </a:ext>
            </a:extLst>
          </p:cNvPr>
          <p:cNvSpPr txBox="1"/>
          <p:nvPr/>
        </p:nvSpPr>
        <p:spPr>
          <a:xfrm>
            <a:off x="1524000" y="101025"/>
            <a:ext cx="9296400" cy="104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>
              <a:spcBef>
                <a:spcPct val="0"/>
              </a:spcBef>
              <a:buNone/>
              <a:defRPr sz="440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  Literature Survey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18046-30EA-1DF3-F502-CFAEB5EF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D07A15-EFC8-CE1E-DE7F-3BEC77373F0A}"/>
              </a:ext>
            </a:extLst>
          </p:cNvPr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E3A43BF-84D4-CB0A-440F-473244790F63}"/>
              </a:ext>
            </a:extLst>
          </p:cNvPr>
          <p:cNvSpPr/>
          <p:nvPr/>
        </p:nvSpPr>
        <p:spPr>
          <a:xfrm>
            <a:off x="838200" y="1600201"/>
            <a:ext cx="10591800" cy="3921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8EC19B2-60AA-DA9F-BAF6-92B0EE9B5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330642"/>
              </p:ext>
            </p:extLst>
          </p:nvPr>
        </p:nvGraphicFramePr>
        <p:xfrm>
          <a:off x="457200" y="1433522"/>
          <a:ext cx="11430000" cy="506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11417875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160733514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31675134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80178793"/>
                    </a:ext>
                  </a:extLst>
                </a:gridCol>
              </a:tblGrid>
              <a:tr h="467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Paper / Tool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/>
                        <a:t>Approach / Technique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/>
                        <a:t>Strengths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/>
                        <a:t>Limitations</a:t>
                      </a:r>
                    </a:p>
                  </a:txBody>
                  <a:tcPr marT="25807" marB="25807" anchor="ctr"/>
                </a:tc>
                <a:extLst>
                  <a:ext uri="{0D108BD9-81ED-4DB2-BD59-A6C34878D82A}">
                    <a16:rowId xmlns:a16="http://schemas.microsoft.com/office/drawing/2014/main" val="1817440536"/>
                  </a:ext>
                </a:extLst>
              </a:tr>
              <a:tr h="882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Automated Pentest Pipeline using Reinforcement Learning (Bhattacharya et al., 2025)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/>
                        <a:t>RL framework for adaptive vulnerability scanning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/>
                        <a:t>Learns and improves with testing iterations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/>
                        <a:t>Complex implementation; training overhead</a:t>
                      </a:r>
                    </a:p>
                  </a:txBody>
                  <a:tcPr marT="25807" marB="25807" anchor="ctr"/>
                </a:tc>
                <a:extLst>
                  <a:ext uri="{0D108BD9-81ED-4DB2-BD59-A6C34878D82A}">
                    <a16:rowId xmlns:a16="http://schemas.microsoft.com/office/drawing/2014/main" val="3223013148"/>
                  </a:ext>
                </a:extLst>
              </a:tr>
              <a:tr h="1082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AI-Oriented Web Security Testing (Lee et al., 2024)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Deep learning for context-aware vulnerability mapping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/>
                        <a:t>Enhances precision in identifying linked flaws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Requires large, </a:t>
                      </a:r>
                      <a:r>
                        <a:rPr lang="en-IN" sz="1800" b="0" dirty="0" err="1"/>
                        <a:t>labeled</a:t>
                      </a:r>
                      <a:r>
                        <a:rPr lang="en-IN" sz="1800" b="0" dirty="0"/>
                        <a:t> datasets</a:t>
                      </a:r>
                    </a:p>
                  </a:txBody>
                  <a:tcPr marT="25807" marB="25807" anchor="ctr"/>
                </a:tc>
                <a:extLst>
                  <a:ext uri="{0D108BD9-81ED-4DB2-BD59-A6C34878D82A}">
                    <a16:rowId xmlns:a16="http://schemas.microsoft.com/office/drawing/2014/main" val="3373219273"/>
                  </a:ext>
                </a:extLst>
              </a:tr>
              <a:tr h="882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Generative AI for Cyber </a:t>
                      </a:r>
                      <a:r>
                        <a:rPr lang="en-IN" sz="1800" b="0" dirty="0" err="1"/>
                        <a:t>Defense</a:t>
                      </a:r>
                      <a:r>
                        <a:rPr lang="en-IN" sz="1800" b="0" dirty="0"/>
                        <a:t>  &amp; </a:t>
                      </a:r>
                      <a:r>
                        <a:rPr lang="en-IN" sz="1800" b="0" dirty="0" err="1"/>
                        <a:t>Penetesting</a:t>
                      </a:r>
                      <a:r>
                        <a:rPr lang="en-IN" sz="1800" b="0" dirty="0"/>
                        <a:t>  (Ahmed &amp; Zaman, 2025)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Generative AI for attack surface mapping and simulation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/>
                        <a:t>Effective in multi-stage attack generation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/>
                        <a:t>Not suitable for real-time or production testing</a:t>
                      </a:r>
                    </a:p>
                  </a:txBody>
                  <a:tcPr marT="25807" marB="25807" anchor="ctr"/>
                </a:tc>
                <a:extLst>
                  <a:ext uri="{0D108BD9-81ED-4DB2-BD59-A6C34878D82A}">
                    <a16:rowId xmlns:a16="http://schemas.microsoft.com/office/drawing/2014/main" val="3722878724"/>
                  </a:ext>
                </a:extLst>
              </a:tr>
              <a:tr h="876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AI-Based Pentest Automation using Knowledge Graphs &amp; LLMs (Nair et al., 2025)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Combines knowledge graphs with LLM reasoning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/>
                        <a:t>Correlates vulnerabilities and exploits intelligently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Prototype stage; limited industrial testing</a:t>
                      </a:r>
                    </a:p>
                  </a:txBody>
                  <a:tcPr marT="25807" marB="25807" anchor="ctr"/>
                </a:tc>
                <a:extLst>
                  <a:ext uri="{0D108BD9-81ED-4DB2-BD59-A6C34878D82A}">
                    <a16:rowId xmlns:a16="http://schemas.microsoft.com/office/drawing/2014/main" val="2848360135"/>
                  </a:ext>
                </a:extLst>
              </a:tr>
              <a:tr h="876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800" b="0" dirty="0"/>
                        <a:t>Prompt-Driven Pentesting Framework (Chen et al., 2025)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Prompt engineering for LLM-guided test generation</a:t>
                      </a:r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/>
                        <a:t>Flexible and customizable testing approach</a:t>
                      </a:r>
                      <a:endParaRPr lang="en-US" sz="1800" b="0" dirty="0"/>
                    </a:p>
                  </a:txBody>
                  <a:tcPr marT="25807" marB="2580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Requires prompt tuning; risk of irrelevant outputs</a:t>
                      </a:r>
                    </a:p>
                  </a:txBody>
                  <a:tcPr marT="25807" marB="25807" anchor="ctr"/>
                </a:tc>
                <a:extLst>
                  <a:ext uri="{0D108BD9-81ED-4DB2-BD59-A6C34878D82A}">
                    <a16:rowId xmlns:a16="http://schemas.microsoft.com/office/drawing/2014/main" val="1470163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198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9FEB0D-5FB2-C1C3-D27D-A02BB6CFE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9ADAC3-1B0E-533C-3869-CE119E2E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9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32BE44A2-A14D-0B5B-FFE9-1AAB935CB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158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29ACF50-8E08-9CBF-79C4-DD2A76648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24000"/>
            <a:ext cx="11811000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models exist but rarely integrate with complete penetration testing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unified system currently merges automation, reasoning, and secure orchestration.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scanners often generate false positives and require manual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frameworks fail to adapt to evolving attack patterns and business logic vulnerabilities.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feedback and continuous learning mechanisms limits improvement in detection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057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of Implementation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13CA40F-6818-79C4-847A-5670A5AB47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1833012"/>
              </p:ext>
            </p:extLst>
          </p:nvPr>
        </p:nvGraphicFramePr>
        <p:xfrm>
          <a:off x="304800" y="1600200"/>
          <a:ext cx="6019800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36BE30D-D2C8-5D20-3D2C-0A0750563B1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99" y="1274065"/>
            <a:ext cx="4964625" cy="267291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9016DA-FAAE-C684-9205-984FFAA32A5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99" y="4191000"/>
            <a:ext cx="4964625" cy="256274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526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3EE1-A687-E076-F7F5-518F5244F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Proposed Work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09FAE-49BF-2752-0454-C1052352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11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 2">
            <a:extLst>
              <a:ext uri="{FF2B5EF4-FFF2-40B4-BE49-F238E27FC236}">
                <a16:creationId xmlns:a16="http://schemas.microsoft.com/office/drawing/2014/main" id="{6ADC8976-4301-0FD5-5D2E-0039A7D2C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8A3F54-620E-4FBF-B19A-71DABE296E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59"/>
          <a:stretch>
            <a:fillRect/>
          </a:stretch>
        </p:blipFill>
        <p:spPr>
          <a:xfrm>
            <a:off x="0" y="904499"/>
            <a:ext cx="12192000" cy="465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13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3C75-1777-C132-BC7D-3184EF01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Schedule of Project Stage-I Work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9E017-A82C-ACFC-FE72-F974A2B0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12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EF84EC1-59BD-02F9-1EDA-E49BDE6BE5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69708"/>
              </p:ext>
            </p:extLst>
          </p:nvPr>
        </p:nvGraphicFramePr>
        <p:xfrm>
          <a:off x="838200" y="1311539"/>
          <a:ext cx="10287000" cy="4956291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338146">
                  <a:extLst>
                    <a:ext uri="{9D8B030D-6E8A-4147-A177-3AD203B41FA5}">
                      <a16:colId xmlns:a16="http://schemas.microsoft.com/office/drawing/2014/main" val="2763343210"/>
                    </a:ext>
                  </a:extLst>
                </a:gridCol>
                <a:gridCol w="8948854">
                  <a:extLst>
                    <a:ext uri="{9D8B030D-6E8A-4147-A177-3AD203B41FA5}">
                      <a16:colId xmlns:a16="http://schemas.microsoft.com/office/drawing/2014/main" val="681019315"/>
                    </a:ext>
                  </a:extLst>
                </a:gridCol>
              </a:tblGrid>
              <a:tr h="15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No.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 Planned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2840776668"/>
                  </a:ext>
                </a:extLst>
              </a:tr>
              <a:tr h="386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01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Finalization of Project Domain, Submission of 4–5 Proposed Topics, and Literature Survey (minimum 2–3 papers per topic).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4231081192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02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 of Problem Statement/Title based on literature review, feasibility analysis, and gap identification. Pre-Review Presentation and Topic Finalization.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3035418532"/>
                  </a:ext>
                </a:extLst>
              </a:tr>
              <a:tr h="270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03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 of Motivation, Objectives, and Defined Scope of the Finalized Project.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650507441"/>
                  </a:ext>
                </a:extLst>
              </a:tr>
              <a:tr h="386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04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Study of Existing Methods/Tools, Feasibility Assessment, and Listing of Required Resources (tools, technologies, hardware/software).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1626673626"/>
                  </a:ext>
                </a:extLst>
              </a:tr>
              <a:tr h="270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05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 of Proposed System, Expected Output, and Basic Design. Project Review – 1.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3848555206"/>
                  </a:ext>
                </a:extLst>
              </a:tr>
              <a:tr h="270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06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Architecture and Initial Design Elements (UML, Context-level DFD, High-Level Block Diagrams).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2591123600"/>
                  </a:ext>
                </a:extLst>
              </a:tr>
              <a:tr h="270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07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 of System Requirements – Functional and Non-Functional.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845270063"/>
                  </a:ext>
                </a:extLst>
              </a:tr>
              <a:tr h="386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08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Preparation of the SRS (Software Requirements Specification) Document as per the finalized problem statement.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1213992750"/>
                  </a:ext>
                </a:extLst>
              </a:tr>
              <a:tr h="270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09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Analysis using UML/ER Diagrams, Use Case Diagrams, Class/Activity Diagrams. Project Review – 2.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2029388679"/>
                  </a:ext>
                </a:extLst>
              </a:tr>
              <a:tr h="270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10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Detailed System Architecture, Design Specifications, and Algorithmic Analysis.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2258954898"/>
                  </a:ext>
                </a:extLst>
              </a:tr>
              <a:tr h="154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11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Module-level Testing Plan and Initial Test Case Design.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4035260477"/>
                  </a:ext>
                </a:extLst>
              </a:tr>
              <a:tr h="270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12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Detailed Design – Expanded DFD Levels, Module Specifications, and Data Dictionary.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714962208"/>
                  </a:ext>
                </a:extLst>
              </a:tr>
              <a:tr h="386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13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Initial Working Modules (at least 3–4). Submit partial coding with documentation. Continue survey paper preparation.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21113131"/>
                  </a:ext>
                </a:extLst>
              </a:tr>
              <a:tr h="270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14</a:t>
                      </a:r>
                    </a:p>
                  </a:txBody>
                  <a:tcPr marL="38683" marR="38683" marT="19342" marB="1934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Drafting of Research Paper, Finalization of Project Report Format, Timeline Planning. Project Review – 3.</a:t>
                      </a:r>
                    </a:p>
                  </a:txBody>
                  <a:tcPr marL="38683" marR="38683" marT="19342" marB="19342" anchor="ctr"/>
                </a:tc>
                <a:extLst>
                  <a:ext uri="{0D108BD9-81ED-4DB2-BD59-A6C34878D82A}">
                    <a16:rowId xmlns:a16="http://schemas.microsoft.com/office/drawing/2014/main" val="2671159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596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7213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13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24000" y="6143370"/>
            <a:ext cx="10287000" cy="3262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ct val="20000"/>
              </a:spcBef>
              <a:buFont typeface="Arial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6DEF7D1-AA6E-2F24-033B-1D81E5B22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56378"/>
            <a:ext cx="10287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project introduces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LLM-augmented penetration testing framework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web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 complex security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maintaining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ethical oversight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vulnerability coverage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manual effort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enhances accuracy, reporting quality, and scalability for future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    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51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3600" y="152400"/>
            <a:ext cx="8229600" cy="838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References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14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Rectangle 7">
            <a:extLst>
              <a:ext uri="{FF2B5EF4-FFF2-40B4-BE49-F238E27FC236}">
                <a16:creationId xmlns:a16="http://schemas.microsoft.com/office/drawing/2014/main" id="{4C42EFEB-1C2C-C0DA-3B42-27CF6747E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09" y="1332272"/>
            <a:ext cx="1085898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R. Mehta et al.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i="1" dirty="0">
                <a:latin typeface="Arial" panose="020B0604020202020204" pitchFamily="34" charset="0"/>
              </a:rPr>
              <a:t>AI-Assisted Penetration Testing Using LLMs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</a:rPr>
              <a:t>IEEE CISS</a:t>
            </a:r>
            <a:r>
              <a:rPr lang="en-US" altLang="en-US" dirty="0">
                <a:latin typeface="Arial" panose="020B0604020202020204" pitchFamily="34" charset="0"/>
              </a:rPr>
              <a:t>, 2025.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A. Verma et al.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i="1" dirty="0">
                <a:latin typeface="Arial" panose="020B0604020202020204" pitchFamily="34" charset="0"/>
              </a:rPr>
              <a:t>Automated Vulnerability Assessment Using NLP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</a:rPr>
              <a:t>ACM ISR</a:t>
            </a:r>
            <a:r>
              <a:rPr lang="en-US" altLang="en-US" dirty="0">
                <a:latin typeface="Arial" panose="020B0604020202020204" pitchFamily="34" charset="0"/>
              </a:rPr>
              <a:t>, 2024.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M. Iqbal et al.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i="1" dirty="0">
                <a:latin typeface="Arial" panose="020B0604020202020204" pitchFamily="34" charset="0"/>
              </a:rPr>
              <a:t>LLM-Driven Web Security Framework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</a:rPr>
              <a:t>Springer J. Cybersecurity</a:t>
            </a:r>
            <a:r>
              <a:rPr lang="en-US" altLang="en-US" dirty="0">
                <a:latin typeface="Arial" panose="020B0604020202020204" pitchFamily="34" charset="0"/>
              </a:rPr>
              <a:t>, 2025.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J. Banerjee et al.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i="1" dirty="0">
                <a:latin typeface="Arial" panose="020B0604020202020204" pitchFamily="34" charset="0"/>
              </a:rPr>
              <a:t>Intelligent Automation in Ethical Hacking Using Generative AI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</a:rPr>
              <a:t>Elsevier</a:t>
            </a:r>
            <a:r>
              <a:rPr lang="en-US" altLang="en-US" dirty="0">
                <a:latin typeface="Arial" panose="020B0604020202020204" pitchFamily="34" charset="0"/>
              </a:rPr>
              <a:t>, 2023.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K. Rao et al.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i="1" dirty="0">
                <a:latin typeface="Arial" panose="020B0604020202020204" pitchFamily="34" charset="0"/>
              </a:rPr>
              <a:t>AI-Powered Security Testing and Remediation System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b="1" dirty="0">
                <a:latin typeface="Arial" panose="020B0604020202020204" pitchFamily="34" charset="0"/>
              </a:rPr>
              <a:t>IEEE Access</a:t>
            </a:r>
            <a:r>
              <a:rPr lang="en-US" altLang="en-US" dirty="0">
                <a:latin typeface="Arial" panose="020B0604020202020204" pitchFamily="34" charset="0"/>
              </a:rPr>
              <a:t>, 2024.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D. Bhattacharya et 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Penetration Testing Pipeline Using Reinforcement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   ICECT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H. Lee et 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AI-Oriented Web Security Testing with Deep Context Understanding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Elsevier – Computers &amp; 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251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99BD-67A7-191A-5D0C-CADD2861B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6B5DFD-2EBF-7805-A01A-3ACA28B2B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52400"/>
            <a:ext cx="8229600" cy="8381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AD563E-0B5B-B134-7D07-B7296FAF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1EB0C-CB60-4CBC-BB14-048A65726B01}" type="slidenum">
              <a:rPr lang="en-US" smtClean="0"/>
              <a:t>15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F87FB4-63B8-8902-E55F-BB6DB206C1E3}"/>
              </a:ext>
            </a:extLst>
          </p:cNvPr>
          <p:cNvCxnSpPr/>
          <p:nvPr/>
        </p:nvCxnSpPr>
        <p:spPr>
          <a:xfrm>
            <a:off x="838200" y="1143000"/>
            <a:ext cx="10287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Rectangle 8">
            <a:extLst>
              <a:ext uri="{FF2B5EF4-FFF2-40B4-BE49-F238E27FC236}">
                <a16:creationId xmlns:a16="http://schemas.microsoft.com/office/drawing/2014/main" id="{7E0ACBD7-30B0-5FEA-60A7-02B2876FB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10519"/>
            <a:ext cx="1130709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P. Nair et 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Pentest Automation through Knowledge Graphs and LLMs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CIIS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N. Bhatia et 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LLM-Augmented Security Operations for Web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Elsevier Journal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of Information Assurance and 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Y. Chen et al.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Prompt-Driven Penetration Testing Framework Using Generative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ICICS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2025.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F. Ahmed and L. Zaman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i="1" dirty="0">
                <a:latin typeface="Arial" panose="020B0604020202020204" pitchFamily="34" charset="0"/>
              </a:rPr>
              <a:t>Generative AI for Automated Cyber Defense and Penetration Testing</a:t>
            </a:r>
            <a:r>
              <a:rPr lang="en-US" altLang="en-US" dirty="0">
                <a:latin typeface="Arial" panose="020B0604020202020204" pitchFamily="34" charset="0"/>
              </a:rPr>
              <a:t>,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lang="en-US" altLang="en-US" b="1" dirty="0">
                <a:latin typeface="Arial" panose="020B0604020202020204" pitchFamily="34" charset="0"/>
              </a:rPr>
              <a:t>IEEE AICR</a:t>
            </a:r>
            <a:r>
              <a:rPr lang="en-US" altLang="en-US" dirty="0">
                <a:latin typeface="Arial" panose="020B0604020202020204" pitchFamily="34" charset="0"/>
              </a:rPr>
              <a:t>, 2025.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R. Tiwari et al.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i="1" dirty="0">
                <a:latin typeface="Arial" panose="020B0604020202020204" pitchFamily="34" charset="0"/>
              </a:rPr>
              <a:t>Natural Language Processing for Security Log Analysis and Threat Detection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lang="en-US" altLang="en-US" b="1" dirty="0">
                <a:latin typeface="Arial" panose="020B0604020202020204" pitchFamily="34" charset="0"/>
              </a:rPr>
              <a:t>ACM Transactions on Cyber Intelligence</a:t>
            </a:r>
            <a:r>
              <a:rPr lang="en-US" altLang="en-US" dirty="0">
                <a:latin typeface="Arial" panose="020B0604020202020204" pitchFamily="34" charset="0"/>
              </a:rPr>
              <a:t>, 2024.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M. Pathak et al.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i="1" dirty="0">
                <a:latin typeface="Arial" panose="020B0604020202020204" pitchFamily="34" charset="0"/>
              </a:rPr>
              <a:t>Smart Vulnerability Management Using ChatGPT-Based Analysis</a:t>
            </a:r>
            <a:r>
              <a:rPr lang="en-US" altLang="en-US" dirty="0">
                <a:latin typeface="Arial" panose="020B0604020202020204" pitchFamily="34" charset="0"/>
              </a:rPr>
              <a:t>,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lang="en-US" altLang="en-US" b="1" dirty="0">
                <a:latin typeface="Arial" panose="020B0604020202020204" pitchFamily="34" charset="0"/>
              </a:rPr>
              <a:t>Springer International Journal of Intelligent Security Systems</a:t>
            </a:r>
            <a:r>
              <a:rPr lang="en-US" altLang="en-US" dirty="0">
                <a:latin typeface="Arial" panose="020B0604020202020204" pitchFamily="34" charset="0"/>
              </a:rPr>
              <a:t>, 2025.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413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fld id="{A4ED723B-6238-4045-B835-B921EDF5589D}" type="slidenum">
              <a:rPr lang="he-IL" b="0" smtClean="0">
                <a:latin typeface="Times New Roman" pitchFamily="18" charset="0"/>
              </a:rPr>
              <a:pPr/>
              <a:t>16</a:t>
            </a:fld>
            <a:endParaRPr lang="en-US" b="0">
              <a:latin typeface="Times New Roman" pitchFamily="18" charset="0"/>
            </a:endParaRPr>
          </a:p>
        </p:txBody>
      </p:sp>
      <p:sp>
        <p:nvSpPr>
          <p:cNvPr id="27651" name="Rectangle 2"/>
          <p:cNvSpPr txBox="1">
            <a:spLocks noChangeArrowheads="1"/>
          </p:cNvSpPr>
          <p:nvPr/>
        </p:nvSpPr>
        <p:spPr bwMode="auto">
          <a:xfrm>
            <a:off x="3962400" y="692151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r>
              <a:rPr lang="en-US" sz="4400"/>
              <a:t>Thank you!!!</a:t>
            </a:r>
          </a:p>
        </p:txBody>
      </p:sp>
      <p:sp>
        <p:nvSpPr>
          <p:cNvPr id="27652" name="Rectangle 3"/>
          <p:cNvSpPr txBox="1">
            <a:spLocks noChangeArrowheads="1"/>
          </p:cNvSpPr>
          <p:nvPr/>
        </p:nvSpPr>
        <p:spPr bwMode="auto">
          <a:xfrm>
            <a:off x="4419600" y="3688517"/>
            <a:ext cx="2286000" cy="757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Times New Roman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/>
              <a:t>Questions???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 dirty="0"/>
          </a:p>
        </p:txBody>
      </p:sp>
      <p:graphicFrame>
        <p:nvGraphicFramePr>
          <p:cNvPr id="27653" name="Object 4"/>
          <p:cNvGraphicFramePr>
            <a:graphicFrameLocks noChangeAspect="1"/>
          </p:cNvGraphicFramePr>
          <p:nvPr/>
        </p:nvGraphicFramePr>
        <p:xfrm>
          <a:off x="7543800" y="1898651"/>
          <a:ext cx="1295400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296063" imgH="3934305" progId="MS_ClipArt_Gallery.2">
                  <p:embed/>
                </p:oleObj>
              </mc:Choice>
              <mc:Fallback>
                <p:oleObj name="Clip" r:id="rId2" imgW="1296063" imgH="3934305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1898651"/>
                        <a:ext cx="1295400" cy="393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1063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2302</TotalTime>
  <Words>1563</Words>
  <Application>Microsoft Office PowerPoint</Application>
  <PresentationFormat>Widescreen</PresentationFormat>
  <Paragraphs>253</Paragraphs>
  <Slides>16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Times New Roman</vt:lpstr>
      <vt:lpstr>Wingdings</vt:lpstr>
      <vt:lpstr>Office Theme</vt:lpstr>
      <vt:lpstr>Clip</vt:lpstr>
      <vt:lpstr>KJ’S EDUCATIONAL INSTITUTES TRINITY COLLEGE OF ENGINEERING AND RESEARCH PUNE Department of Information Technology AY 2025-26 SEM-I   BE Project Stage –I   A  Presentation On  Penetration Testing For Websites using LLM</vt:lpstr>
      <vt:lpstr>Outline</vt:lpstr>
      <vt:lpstr>Introduction</vt:lpstr>
      <vt:lpstr>Problem Statement</vt:lpstr>
      <vt:lpstr>Motivation &amp; Objectives</vt:lpstr>
      <vt:lpstr>Scope of the project  </vt:lpstr>
      <vt:lpstr>PowerPoint Presentation</vt:lpstr>
      <vt:lpstr>PowerPoint Presentation</vt:lpstr>
      <vt:lpstr>GAP Analysis </vt:lpstr>
      <vt:lpstr>Platform of Implementation</vt:lpstr>
      <vt:lpstr>Architecture of Proposed Work </vt:lpstr>
      <vt:lpstr>Details of Schedule of Project Stage-I Work </vt:lpstr>
      <vt:lpstr>Conclusion</vt:lpstr>
      <vt:lpstr>  References</vt:lpstr>
      <vt:lpstr>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 MOISTURE MONITORING FOR DAM CONSTRUCTION USING WSN</dc:title>
  <dc:creator>Sapi</dc:creator>
  <cp:lastModifiedBy>Mohanish mahesh kulkarni</cp:lastModifiedBy>
  <cp:revision>394</cp:revision>
  <dcterms:created xsi:type="dcterms:W3CDTF">2015-09-06T12:20:02Z</dcterms:created>
  <dcterms:modified xsi:type="dcterms:W3CDTF">2025-11-13T19:08:15Z</dcterms:modified>
</cp:coreProperties>
</file>